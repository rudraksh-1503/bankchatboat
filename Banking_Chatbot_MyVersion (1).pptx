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21" Type="http://schemas.openxmlformats.org/officeDocument/2006/relationships/theme" Target="theme/theme1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viewProps" Target="view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presProps" Target="pres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371BED-FE69-2040-8831-4314107E768C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7A8187-ED3A-4A4C-AC3B-66EAAC3A2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533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1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1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1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1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1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1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1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1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1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1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1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 /><Relationship Id="rId1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0077A8">
              <a:alpha val="25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-640080"/>
            <a:ext cx="2011680" cy="2011680"/>
          </a:xfrm>
          <a:prstGeom prst="ellipse">
            <a:avLst/>
          </a:prstGeom>
          <a:solidFill>
            <a:srgbClr val="F5A623">
              <a:alpha val="15000"/>
            </a:srgbClr>
          </a:solidFill>
          <a:ln w="12700">
            <a:solidFill>
              <a:srgbClr val="F5A623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0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kern="0" spc="2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Chatbot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02920" y="210312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5200" dirty="0"/>
          </a:p>
        </p:txBody>
      </p:sp>
      <p:sp>
        <p:nvSpPr>
          <p:cNvPr id="8" name="Shape 6"/>
          <p:cNvSpPr/>
          <p:nvPr/>
        </p:nvSpPr>
        <p:spPr>
          <a:xfrm>
            <a:off x="502920" y="2944368"/>
            <a:ext cx="5029200" cy="3657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0632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Implementation with Rasa &amp; Flask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252540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46227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[Your Name]   |   [Your Course]   |   [Your College]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10058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82880" y="1463040"/>
            <a:ext cx="2560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Inside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3108960" y="539496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108960" y="539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520440" y="502920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Problem Statement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108960" y="941832"/>
            <a:ext cx="57607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08960" y="1033272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10332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520440" y="996696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108960" y="1435608"/>
            <a:ext cx="57607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1527048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0" y="1527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520440" y="1490472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108960" y="1929384"/>
            <a:ext cx="57607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08960" y="2020824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2020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520440" y="1984248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108960" y="2423160"/>
            <a:ext cx="57607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08960" y="2514600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08960" y="25146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520440" y="2478024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Mechanism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108960" y="2916936"/>
            <a:ext cx="57607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108960" y="3008376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108960" y="3008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520440" y="2971800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Features &amp; NLP Components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108960" y="3410712"/>
            <a:ext cx="57607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108960" y="3502152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108960" y="3502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520440" y="3465576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Backend, API &amp; Advantages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108960" y="3904488"/>
            <a:ext cx="57607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108960" y="3995928"/>
            <a:ext cx="329184" cy="32918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108960" y="3995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520440" y="3959352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Roadmap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108960" y="4398264"/>
            <a:ext cx="576072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108960" y="4489704"/>
            <a:ext cx="329184" cy="32918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108960" y="4489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520440" y="4453128"/>
            <a:ext cx="5303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297680" cy="514350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28600" y="18288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8600" y="59436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Chatbot?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28600" y="1737360"/>
            <a:ext cx="347472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87452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AI-driven software application designed to simulate human conversation through text or voice interactions, providing instant automated responses.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502920"/>
            <a:ext cx="42976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Banking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Chatbots?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4572000" y="1554480"/>
            <a:ext cx="4297680" cy="640080"/>
          </a:xfrm>
          <a:prstGeom prst="rect">
            <a:avLst/>
          </a:prstGeom>
          <a:solidFill>
            <a:srgbClr val="EEF6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66360" y="1627632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high-volume queries instantly without staff involvement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0" y="2331720"/>
            <a:ext cx="4297680" cy="640080"/>
          </a:xfrm>
          <a:prstGeom prst="rect">
            <a:avLst/>
          </a:prstGeom>
          <a:solidFill>
            <a:srgbClr val="FFF8EC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2423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⏰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166360" y="2404872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customer wait times from minutes to milliseconds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0" y="3108960"/>
            <a:ext cx="4297680" cy="640080"/>
          </a:xfrm>
          <a:prstGeom prst="rect">
            <a:avLst/>
          </a:prstGeom>
          <a:solidFill>
            <a:srgbClr val="EEF6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6344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166360" y="3182112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operational costs by up to 30% for financial institutions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3886200"/>
            <a:ext cx="4297680" cy="640080"/>
          </a:xfrm>
          <a:prstGeom prst="rect">
            <a:avLst/>
          </a:prstGeom>
          <a:solidFill>
            <a:srgbClr val="FFF8EC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63440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166360" y="3959352"/>
            <a:ext cx="3566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demands 24/7 self-service availability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We're Solving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280160"/>
            <a:ext cx="4114800" cy="1554480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80160"/>
            <a:ext cx="73152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🏦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24128" y="1417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Banking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" y="18745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queues and limited working hours (9 AM – 4 PM) create massive friction for customers.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4114800" cy="1554480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280160"/>
            <a:ext cx="73152" cy="1554480"/>
          </a:xfrm>
          <a:prstGeom prst="rect">
            <a:avLst/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417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⌛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504688" y="1417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Lag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92040" y="187452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responses from customer service reps leave users frustrated and underserved.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3063240"/>
            <a:ext cx="4114800" cy="1554480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63240"/>
            <a:ext cx="73152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24128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Costs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11480" y="36576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expenses for maintaining large call centers drain bank resources unnecessarily.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3063240"/>
            <a:ext cx="4114800" cy="1554480"/>
          </a:xfrm>
          <a:prstGeom prst="rect">
            <a:avLst/>
          </a:prstGeom>
          <a:solidFill>
            <a:srgbClr val="2A2A45"/>
          </a:solidFill>
          <a:ln w="12700">
            <a:solidFill>
              <a:srgbClr val="3A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063240"/>
            <a:ext cx="73152" cy="1554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32004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504688" y="32004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Need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36576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Growing necessity for 24/7 intelligent self-service systems that never sleep.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50292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188720"/>
            <a:ext cx="64008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188720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1207008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Integration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536192"/>
            <a:ext cx="7223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robust Natural Language Processing model using Rasa for intent classification and entity extraction.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80924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084832"/>
            <a:ext cx="64008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084832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17320" y="2103120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2432304"/>
            <a:ext cx="7223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responsive web dashboard using HTML5, CSS3, and JavaScript for seamless chatbot interaction.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2862072"/>
            <a:ext cx="80924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2980944"/>
            <a:ext cx="640080" cy="71323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2980944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17320" y="2999232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Automation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17320" y="3328416"/>
            <a:ext cx="7223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automated balance checking, money transfers, and transaction history via conversational commands.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3758184"/>
            <a:ext cx="809244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3877056"/>
            <a:ext cx="640080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877056"/>
            <a:ext cx="640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417320" y="3895344"/>
            <a:ext cx="7223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Security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417320" y="4224528"/>
            <a:ext cx="7223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secure user authentication and encrypted transaction handling to protect sensitive banking data.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5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8288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60520" cy="1600200"/>
          </a:xfrm>
          <a:prstGeom prst="rect">
            <a:avLst/>
          </a:prstGeom>
          <a:solidFill>
            <a:srgbClr val="1C1C2E"/>
          </a:solidFill>
          <a:ln w="12700">
            <a:solidFill>
              <a:srgbClr val="3A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41605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533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1078992" y="1335024"/>
            <a:ext cx="777240" cy="228600"/>
          </a:xfrm>
          <a:prstGeom prst="roundRect">
            <a:avLst>
              <a:gd name="adj" fmla="val 48000"/>
            </a:avLst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8992" y="133502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NLP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11480" y="16916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Rasa Open Source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2048256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NLU for intent classification and dialogue management for context-aware responses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188720"/>
            <a:ext cx="4160520" cy="1600200"/>
          </a:xfrm>
          <a:prstGeom prst="rect">
            <a:avLst/>
          </a:prstGeom>
          <a:solidFill>
            <a:srgbClr val="1C1C2E"/>
          </a:solidFill>
          <a:ln w="12700">
            <a:solidFill>
              <a:srgbClr val="3A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1188720"/>
            <a:ext cx="41605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3533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🐍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5513832" y="1335024"/>
            <a:ext cx="777240" cy="228600"/>
          </a:xfrm>
          <a:prstGeom prst="roundRect">
            <a:avLst>
              <a:gd name="adj" fmla="val 48000"/>
            </a:avLst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13832" y="133502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46320" y="16916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(Python)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2048256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backend micro-framework to handle API requests and routing efficiently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4160520" cy="1600200"/>
          </a:xfrm>
          <a:prstGeom prst="rect">
            <a:avLst/>
          </a:prstGeom>
          <a:solidFill>
            <a:srgbClr val="1C1C2E"/>
          </a:solidFill>
          <a:ln w="12700">
            <a:solidFill>
              <a:srgbClr val="3A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017520"/>
            <a:ext cx="416052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1821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1078992" y="3163824"/>
            <a:ext cx="777240" cy="228600"/>
          </a:xfrm>
          <a:prstGeom prst="roundRect">
            <a:avLst>
              <a:gd name="adj" fmla="val 48000"/>
            </a:avLst>
          </a:prstGeom>
          <a:solidFill>
            <a:srgbClr val="F5A623">
              <a:alpha val="20000"/>
            </a:srgbClr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316382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11480" y="35204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11480" y="3877056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relational database for storing user records and transaction history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3017520"/>
            <a:ext cx="4160520" cy="1600200"/>
          </a:xfrm>
          <a:prstGeom prst="rect">
            <a:avLst/>
          </a:prstGeom>
          <a:solidFill>
            <a:srgbClr val="1C1C2E"/>
          </a:solidFill>
          <a:ln w="12700">
            <a:solidFill>
              <a:srgbClr val="3A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09160" y="3017520"/>
            <a:ext cx="416052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1821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30" name="Shape 28"/>
          <p:cNvSpPr/>
          <p:nvPr/>
        </p:nvSpPr>
        <p:spPr>
          <a:xfrm>
            <a:off x="5513832" y="3163824"/>
            <a:ext cx="777240" cy="228600"/>
          </a:xfrm>
          <a:prstGeom prst="roundRect">
            <a:avLst>
              <a:gd name="adj" fmla="val 48000"/>
            </a:avLst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3163824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46320" y="352044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Stack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46320" y="3877056"/>
            <a:ext cx="3886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and JavaScript for building the responsive frontend UI components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502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1463040" cy="1463040"/>
          </a:xfrm>
          <a:prstGeom prst="rect">
            <a:avLst/>
          </a:prstGeom>
          <a:solidFill>
            <a:srgbClr val="1C1C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4320" y="14630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👤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20299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" y="23774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query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73936" y="2103120"/>
            <a:ext cx="256032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19659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66544" y="1371600"/>
            <a:ext cx="1463040" cy="1463040"/>
          </a:xfrm>
          <a:prstGeom prst="rect">
            <a:avLst/>
          </a:prstGeom>
          <a:solidFill>
            <a:srgbClr val="F5A623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66544" y="14630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🖥️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066544" y="20299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066544" y="23774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Interface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566160" y="2103120"/>
            <a:ext cx="256032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66744" y="19659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</a:rPr>
              <a:t>▶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858768" y="1371600"/>
            <a:ext cx="1463040" cy="14630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858768" y="14630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858768" y="20299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858768" y="23774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Bridge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58384" y="2103120"/>
            <a:ext cx="256032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58968" y="19659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</a:rPr>
              <a:t>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650992" y="1371600"/>
            <a:ext cx="1463040" cy="1463040"/>
          </a:xfrm>
          <a:prstGeom prst="rect">
            <a:avLst/>
          </a:prstGeom>
          <a:solidFill>
            <a:srgbClr val="1C1C2E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650992" y="14630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5650992" y="20299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Rasa NLU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650992" y="23774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Analysis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150608" y="2103120"/>
            <a:ext cx="256032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51192" y="19659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5A623"/>
                </a:solidFill>
              </a:rPr>
              <a:t>▶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443216" y="1371600"/>
            <a:ext cx="1463040" cy="1463040"/>
          </a:xfrm>
          <a:prstGeom prst="rect">
            <a:avLst/>
          </a:prstGeom>
          <a:solidFill>
            <a:srgbClr val="4A4A7A"/>
          </a:solidFill>
          <a:ln w="12700">
            <a:solidFill>
              <a:srgbClr val="0000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443216" y="146304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🗄️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7443216" y="202996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443216" y="237744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Fetch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30632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 communication via REST APIs between all layers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3456432"/>
            <a:ext cx="82296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</p:sp>
      <p:sp>
        <p:nvSpPr>
          <p:cNvPr id="37" name="Text 35"/>
          <p:cNvSpPr/>
          <p:nvPr/>
        </p:nvSpPr>
        <p:spPr>
          <a:xfrm>
            <a:off x="457200" y="35478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Response flows back: SQLite → Rasa Action → Flask → Frontend → User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74320" y="28895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Input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066544" y="28895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Renders Chat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858768" y="28895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Request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650992" y="28895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Processes NLP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443216" y="288950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Data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Mechanism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13232" y="1188720"/>
            <a:ext cx="0" cy="3520440"/>
          </a:xfrm>
          <a:prstGeom prst="line">
            <a:avLst/>
          </a:prstGeom>
          <a:noFill/>
          <a:ln w="25400">
            <a:solidFill>
              <a:srgbClr val="3A3A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234440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51560" y="1188720"/>
            <a:ext cx="7772400" cy="621792"/>
          </a:xfrm>
          <a:prstGeom prst="rect">
            <a:avLst/>
          </a:prstGeom>
          <a:solidFill>
            <a:srgbClr val="252540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12801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Authentication: 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68880" y="1280160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logs into the web portal with secure credentials to start a banking session.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1984248"/>
            <a:ext cx="420624" cy="42062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19842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051560" y="1938528"/>
            <a:ext cx="7772400" cy="621792"/>
          </a:xfrm>
          <a:prstGeom prst="rect">
            <a:avLst/>
          </a:prstGeom>
          <a:solidFill>
            <a:srgbClr val="252540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2029968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Navigation: 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468880" y="2029968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accesses the dashboard and opens the chatbot window from the interface.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2734056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7340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051560" y="2688336"/>
            <a:ext cx="7772400" cy="621792"/>
          </a:xfrm>
          <a:prstGeom prst="rect">
            <a:avLst/>
          </a:prstGeom>
          <a:solidFill>
            <a:srgbClr val="252540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2779776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Processing: 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2468880" y="2779776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Rasa identifies intents (e.g. "Check Balance") and extracts entities from the user message.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3483864"/>
            <a:ext cx="420624" cy="420624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4838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051560" y="3438144"/>
            <a:ext cx="7772400" cy="621792"/>
          </a:xfrm>
          <a:prstGeom prst="rect">
            <a:avLst/>
          </a:prstGeom>
          <a:solidFill>
            <a:srgbClr val="252540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3529584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Trigger: 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2468880" y="3529584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Rasa triggers custom Python actions to query the SQLite database for real-time data.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02920" y="4233672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233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051560" y="4187952"/>
            <a:ext cx="7772400" cy="621792"/>
          </a:xfrm>
          <a:prstGeom prst="rect">
            <a:avLst/>
          </a:prstGeom>
          <a:solidFill>
            <a:srgbClr val="252540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88720" y="4279392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Feedback: 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2468880" y="4279392"/>
            <a:ext cx="6217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sends a human-like response back to the web UI completing the interaction loop.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502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 Features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94360" y="11887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188720"/>
            <a:ext cx="41148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🔐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344168" y="1325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System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1847088"/>
            <a:ext cx="3858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session-based login for banking users with encrypted credential handling and timeout protection.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92040" y="11887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92040" y="1188720"/>
            <a:ext cx="41148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3258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💰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641848" y="132588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Inquiry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29200" y="1847088"/>
            <a:ext cx="3858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fetching of account balance directly from the SQLite database via Rasa custom actions.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29260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2926080"/>
            <a:ext cx="41148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💸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344168" y="3063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Transfer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3584448"/>
            <a:ext cx="3858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funds to other accounts via a simple chat command — processed securely with full audit trail.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29260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92040" y="2926080"/>
            <a:ext cx="41148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641848" y="3063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History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29200" y="3584448"/>
            <a:ext cx="3858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latest transactions in a structured formatted table returned instantly through the chatbot window.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Rasa NLP Components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3657600"/>
          </a:xfrm>
          <a:prstGeom prst="rect">
            <a:avLst/>
          </a:prstGeom>
          <a:solidFill>
            <a:srgbClr val="252540"/>
          </a:solidFill>
          <a:ln w="12700">
            <a:solidFill>
              <a:srgbClr val="3A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41148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Intents &amp; Entities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8745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INTENTS — What the user wants: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21992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3A3A5A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2219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3A3A5A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61518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check_balance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008376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3A3A5A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00837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transfer_money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401568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3A3A5A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015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view_history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3794760"/>
            <a:ext cx="1645920" cy="274320"/>
          </a:xfrm>
          <a:prstGeom prst="roundRect">
            <a:avLst>
              <a:gd name="adj" fmla="val 16667"/>
            </a:avLst>
          </a:prstGeom>
          <a:solidFill>
            <a:srgbClr val="3A3A5A"/>
          </a:solidFill>
          <a:ln w="12700">
            <a:solidFill>
              <a:srgbClr val="F5A623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94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5A6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goodbye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286000" y="187452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— Specific data extracted: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286000" y="2221992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3A3A5A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86000" y="2221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account_no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286000" y="2615184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3A3A5A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261518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amount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0" y="3008376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3A3A5A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30083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recipient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2286000" y="3401568"/>
            <a:ext cx="1828800" cy="274320"/>
          </a:xfrm>
          <a:prstGeom prst="roundRect">
            <a:avLst>
              <a:gd name="adj" fmla="val 16667"/>
            </a:avLst>
          </a:prstGeom>
          <a:solidFill>
            <a:srgbClr val="3A3A5A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1188720"/>
            <a:ext cx="4114800" cy="3657600"/>
          </a:xfrm>
          <a:prstGeom prst="rect">
            <a:avLst/>
          </a:prstGeom>
          <a:solidFill>
            <a:srgbClr val="252540"/>
          </a:solidFill>
          <a:ln w="12700">
            <a:solidFill>
              <a:srgbClr val="3A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188720"/>
            <a:ext cx="41148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132588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 &amp; Actions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937760" y="18745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▌ Stories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2258568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conversation paths used to train the Rasa dialogue model. Each story defines an expected flow from user message to bot response, covering multiple scenarios.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937760" y="3383280"/>
            <a:ext cx="3474720" cy="0"/>
          </a:xfrm>
          <a:prstGeom prst="line">
            <a:avLst/>
          </a:prstGeom>
          <a:noFill/>
          <a:ln w="12700">
            <a:solidFill>
              <a:srgbClr val="3A3A5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34747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▌ Actions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937760" y="3858768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functions executed by Rasa to perform real tasks. Custom actions connect to the SQLite database to fetch account data, process transfers, and retrieve history.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502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API Layer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85800" y="1188720"/>
            <a:ext cx="8138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188720"/>
            <a:ext cx="73152" cy="10789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1248" y="1261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🛣️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463040" y="126187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Routes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97680" y="1243584"/>
            <a:ext cx="4389120" cy="310896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3400" y="1243584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7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@app.route('/chat', methods=['POST'])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63040" y="1645920"/>
            <a:ext cx="7223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page rendering and chat message POST requests. Routes include /login, /dashboard, /chat, and /history endpoints.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2423160"/>
            <a:ext cx="8138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85800" y="2423160"/>
            <a:ext cx="73152" cy="10789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496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🗄️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63040" y="24963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Connection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97680" y="2478024"/>
            <a:ext cx="4389120" cy="310896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2478024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7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 = sqlite3.connect('bank.db')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463040" y="2880360"/>
            <a:ext cx="7223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through Python's sqlite3 library for all CRUD operations. Supports concurrent reads and handles user records and transactions securely.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85800" y="3657600"/>
            <a:ext cx="813816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5800" y="3657600"/>
            <a:ext cx="73152" cy="10789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37307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📦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463040" y="373075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297680" y="3712464"/>
            <a:ext cx="4389120" cy="310896"/>
          </a:xfrm>
          <a:prstGeom prst="rect">
            <a:avLst/>
          </a:prstGeom>
          <a:solidFill>
            <a:srgbClr val="F0F0F0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43400" y="3712464"/>
            <a:ext cx="4297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7D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jsonify({"balance": "₹ 52,400"})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63040" y="4114800"/>
            <a:ext cx="7223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is serialized into JSON format for the frontend. This ensures clean separation between business logic and the presentation layer.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Advantages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2743200" cy="3657600"/>
          </a:xfrm>
          <a:prstGeom prst="rect">
            <a:avLst/>
          </a:prstGeom>
          <a:solidFill>
            <a:srgbClr val="252540"/>
          </a:solidFill>
          <a:ln w="12700">
            <a:solidFill>
              <a:srgbClr val="3A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27432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71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⚡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74320" y="208483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1s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274320" y="29077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291840"/>
            <a:ext cx="2194560" cy="0"/>
          </a:xfrm>
          <a:prstGeom prst="line">
            <a:avLst/>
          </a:prstGeom>
          <a:noFill/>
          <a:ln w="12700">
            <a:solidFill>
              <a:srgbClr val="3A3A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38328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responses to common queries without any human intervention or wait time.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188720"/>
            <a:ext cx="2743200" cy="3657600"/>
          </a:xfrm>
          <a:prstGeom prst="rect">
            <a:avLst/>
          </a:prstGeom>
          <a:solidFill>
            <a:srgbClr val="252540"/>
          </a:solidFill>
          <a:ln w="12700">
            <a:solidFill>
              <a:srgbClr val="3A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188720"/>
            <a:ext cx="27432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371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🌙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3200400" y="208483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7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3200400" y="29077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74720" y="3291840"/>
            <a:ext cx="2194560" cy="0"/>
          </a:xfrm>
          <a:prstGeom prst="line">
            <a:avLst/>
          </a:prstGeom>
          <a:noFill/>
          <a:ln w="12700">
            <a:solidFill>
              <a:srgbClr val="3A3A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338328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downtime — available for customers even on weekends, holidays, and after banking hours.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188720"/>
            <a:ext cx="2743200" cy="3657600"/>
          </a:xfrm>
          <a:prstGeom prst="rect">
            <a:avLst/>
          </a:prstGeom>
          <a:solidFill>
            <a:srgbClr val="252540"/>
          </a:solidFill>
          <a:ln w="12700">
            <a:solidFill>
              <a:srgbClr val="3A3A5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188720"/>
            <a:ext cx="27432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13716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dirty="0">
                <a:solidFill>
                  <a:srgbClr val="000000"/>
                </a:solidFill>
              </a:rPr>
              <a:t>📈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126480" y="2084832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1000+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6126480" y="290779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Concurrent Users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0" y="3291840"/>
            <a:ext cx="2194560" cy="0"/>
          </a:xfrm>
          <a:prstGeom prst="line">
            <a:avLst/>
          </a:prstGeom>
          <a:noFill/>
          <a:ln w="12700">
            <a:solidFill>
              <a:srgbClr val="3A3A5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3383280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handle thousands of users simultaneously without additional operational cost.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502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Applications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94360" y="11887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2688336"/>
            <a:ext cx="41148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2984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🏦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99032" y="13258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Banks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1755648"/>
            <a:ext cx="3840480" cy="0"/>
          </a:xfrm>
          <a:prstGeom prst="line">
            <a:avLst/>
          </a:prstGeom>
          <a:noFill/>
          <a:ln w="1016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1828800"/>
            <a:ext cx="3858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Automating account management, loan inquiries, and branch navigation for millions of customers daily.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92040" y="118872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92040" y="2688336"/>
            <a:ext cx="41148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2984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💳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696712" y="132588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Fintech Startups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0" y="1755648"/>
            <a:ext cx="3840480" cy="0"/>
          </a:xfrm>
          <a:prstGeom prst="line">
            <a:avLst/>
          </a:prstGeom>
          <a:noFill/>
          <a:ln w="10160">
            <a:solidFill>
              <a:srgbClr val="EEEE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828800"/>
            <a:ext cx="3858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Providing low-cost, AI-driven customer support without the overhead of a dedicated support team.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29260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4425696"/>
            <a:ext cx="4114800" cy="54864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0358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🎧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1399032" y="30632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Service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31520" y="3493008"/>
            <a:ext cx="3840480" cy="0"/>
          </a:xfrm>
          <a:prstGeom prst="line">
            <a:avLst/>
          </a:prstGeom>
          <a:noFill/>
          <a:ln w="10160">
            <a:solidFill>
              <a:srgbClr val="EEEE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566160"/>
            <a:ext cx="3858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high-volume FAQ handling, complaint logging, and service status updates at scale.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29260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92040" y="4425696"/>
            <a:ext cx="411480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03580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📑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696712" y="306324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Firms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5029200" y="3493008"/>
            <a:ext cx="3840480" cy="0"/>
          </a:xfrm>
          <a:prstGeom prst="line">
            <a:avLst/>
          </a:prstGeom>
          <a:noFill/>
          <a:ln w="10160">
            <a:solidFill>
              <a:srgbClr val="EEEE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566160"/>
            <a:ext cx="38587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Helping policyholders with policy inquiries, claim status, and premium reminders via conversational AI.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164592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645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8412480" cy="749808"/>
          </a:xfrm>
          <a:prstGeom prst="rect">
            <a:avLst/>
          </a:prstGeom>
          <a:solidFill>
            <a:srgbClr val="252540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188720"/>
            <a:ext cx="73152" cy="7498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63946"/>
                </a:solidFill>
              </a:rPr>
              <a:t>⚠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1261872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Dependency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20440" y="1261872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requires constant web connectivity. Offline access is not currently supported, limiting use in low-connectivity environments.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74720" y="1261872"/>
            <a:ext cx="0" cy="603504"/>
          </a:xfrm>
          <a:prstGeom prst="line">
            <a:avLst/>
          </a:prstGeom>
          <a:noFill/>
          <a:ln w="12700">
            <a:solidFill>
              <a:srgbClr val="3A3A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084832"/>
            <a:ext cx="8412480" cy="749808"/>
          </a:xfrm>
          <a:prstGeom prst="rect">
            <a:avLst/>
          </a:prstGeom>
          <a:solidFill>
            <a:srgbClr val="252540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084832"/>
            <a:ext cx="73152" cy="7498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1762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63946"/>
                </a:solidFill>
              </a:rPr>
              <a:t>⚠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97280" y="2157984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Quality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2157984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accuracy depends heavily on the diversity and volume of training samples. Limited data leads to poor intent recognition and missed entities.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3474720" y="2157984"/>
            <a:ext cx="0" cy="603504"/>
          </a:xfrm>
          <a:prstGeom prst="line">
            <a:avLst/>
          </a:prstGeom>
          <a:noFill/>
          <a:ln w="12700">
            <a:solidFill>
              <a:srgbClr val="3A3A5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980944"/>
            <a:ext cx="8412480" cy="749808"/>
          </a:xfrm>
          <a:prstGeom prst="rect">
            <a:avLst/>
          </a:prstGeom>
          <a:solidFill>
            <a:srgbClr val="252540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980944"/>
            <a:ext cx="73152" cy="7498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0723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63946"/>
                </a:solidFill>
              </a:rPr>
              <a:t>⚠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97280" y="3054096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Memory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20440" y="3054096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chatbot may lose complex conversational context in very long sessions, leading to less coherent responses in extended interactions.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474720" y="3054096"/>
            <a:ext cx="0" cy="603504"/>
          </a:xfrm>
          <a:prstGeom prst="line">
            <a:avLst/>
          </a:prstGeom>
          <a:noFill/>
          <a:ln w="12700">
            <a:solidFill>
              <a:srgbClr val="3A3A5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3877056"/>
            <a:ext cx="8412480" cy="749808"/>
          </a:xfrm>
          <a:prstGeom prst="rect">
            <a:avLst/>
          </a:prstGeom>
          <a:solidFill>
            <a:srgbClr val="252540"/>
          </a:solidFill>
          <a:ln w="12700">
            <a:solidFill>
              <a:srgbClr val="3A3A5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3877056"/>
            <a:ext cx="73152" cy="7498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3968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63946"/>
                </a:solidFill>
              </a:rPr>
              <a:t>⚠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97280" y="3950208"/>
            <a:ext cx="2286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Domain Scope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20440" y="3950208"/>
            <a:ext cx="5120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answer queries outside the banking domain. Cross-domain questions will result in fallback responses or errors without custom extension.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474720" y="3950208"/>
            <a:ext cx="0" cy="603504"/>
          </a:xfrm>
          <a:prstGeom prst="line">
            <a:avLst/>
          </a:prstGeom>
          <a:noFill/>
          <a:ln w="12700">
            <a:solidFill>
              <a:srgbClr val="3A3A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1C1C2E"/>
          </a:solidFill>
          <a:ln w="12700">
            <a:solidFill>
              <a:srgbClr val="1C1C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7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685800" y="502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 Ahead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94360" y="1188720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188720"/>
            <a:ext cx="41148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" y="129844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25880" y="1280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25880" y="14813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325880" y="175564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Android/iOS Deployment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2011680"/>
            <a:ext cx="3840480" cy="0"/>
          </a:xfrm>
          <a:prstGeom prst="line">
            <a:avLst/>
          </a:prstGeom>
          <a:noFill/>
          <a:ln w="10160">
            <a:solidFill>
              <a:srgbClr val="EEEE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066544"/>
            <a:ext cx="3858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 to bring chatbot banking directly to users' smartphones with push notifications.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92040" y="1188720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92040" y="1188720"/>
            <a:ext cx="41148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01768" y="129844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623560" y="12801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23560" y="14813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Hybrid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23560" y="175564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 Integration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029200" y="2011680"/>
            <a:ext cx="3840480" cy="0"/>
          </a:xfrm>
          <a:prstGeom prst="line">
            <a:avLst/>
          </a:prstGeom>
          <a:noFill/>
          <a:ln w="1016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066544"/>
            <a:ext cx="3858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 Rasa with large language model fallback for complex, open-ended queries and nuanced conversations.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94360" y="2926080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94360" y="2926080"/>
            <a:ext cx="4114800" cy="640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" y="30358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🎙️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325880" y="30175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325880" y="32186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Bot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25880" y="349300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Voice-to-Text Integration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3749040"/>
            <a:ext cx="3840480" cy="0"/>
          </a:xfrm>
          <a:prstGeom prst="line">
            <a:avLst/>
          </a:prstGeom>
          <a:noFill/>
          <a:ln w="10160">
            <a:solidFill>
              <a:srgbClr val="EEEE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3803904"/>
            <a:ext cx="3858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customers to interact via speech with automatic transcription and intent recognition for hands-free banking.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892040" y="2926080"/>
            <a:ext cx="411480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92040" y="2926080"/>
            <a:ext cx="41148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01768" y="30358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🔒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5623560" y="30175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623560" y="321868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Security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623560" y="3493008"/>
            <a:ext cx="32004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Two-Factor Authentication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0" y="3749040"/>
            <a:ext cx="3840480" cy="0"/>
          </a:xfrm>
          <a:prstGeom prst="line">
            <a:avLst/>
          </a:prstGeom>
          <a:noFill/>
          <a:ln w="10160">
            <a:solidFill>
              <a:srgbClr val="EEEE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3803904"/>
            <a:ext cx="385876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additional security layer via OTP verification for all high-value transactions and account changes.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1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74320"/>
            <a:ext cx="1371600" cy="25603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150" dirty="0">
                <a:solidFill>
                  <a:srgbClr val="1C1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0" b="1" dirty="0">
                <a:solidFill>
                  <a:srgbClr val="F5A62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AI-Powered Banking Chatbot successfully demonstrates the power of Rasa and Flask in automating financial services — providing a user-friendly, efficient, and scalable solution for modern banking needs.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02920" y="288036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2525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8803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Full-Stack AI System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7560" y="288036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252540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37560" y="28803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Real-Time NLP Processing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288036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25254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72200" y="28803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Scalable &amp; Secure Architecture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02920" y="3520440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for your attention!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252540"/>
          </a:solidFill>
          <a:ln w="12700">
            <a:solidFill>
              <a:srgbClr val="2525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709160"/>
            <a:ext cx="8686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Banking Chatbot System   |   Rasa + Flask + SQLite   |   [Your College]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046720" y="4754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Banking Chatbot with Web Interface</dc:title>
  <dc:subject>PptxGenJS Presentation</dc:subject>
  <dc:creator>PptxGenJS</dc:creator>
  <cp:lastModifiedBy>mara Rudraksh</cp:lastModifiedBy>
  <cp:revision>2</cp:revision>
  <dcterms:created xsi:type="dcterms:W3CDTF">2026-04-03T10:13:28Z</dcterms:created>
  <dcterms:modified xsi:type="dcterms:W3CDTF">2026-04-03T10:17:21Z</dcterms:modified>
</cp:coreProperties>
</file>